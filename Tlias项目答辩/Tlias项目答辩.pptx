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7630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课程项目答辩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1300"/>
            <a:ext cx="85725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Tlias 智能学习辅助系统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433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Spring Boot 3 + Vue 3 前后端分离全栈实战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38600"/>
            <a:ext cx="533400" cy="28575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6245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李胤贤 · 山东政法学院 · 信息管理与信息系统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291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531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Java 开发工程师方向 · 前后端分离全栈项目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内容导览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19150"/>
            <a:ext cx="952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十分钟路线：从项目全貌到未来规划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1985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Tlias 智能学习辅助系统 · 项目答辩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85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02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181100"/>
            <a:ext cx="2209800" cy="1428750"/>
          </a:xfrm>
          <a:prstGeom prst="rect">
            <a:avLst/>
          </a:prstGeom>
          <a:solidFill>
            <a:srgbClr val="FC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150" y="1409700"/>
            <a:ext cx="1809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总时长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1676400"/>
            <a:ext cx="1809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AD2B26"/>
                </a:solidFill>
                <a:latin typeface="Microsoft YaHei"/>
                <a:ea typeface="Microsoft YaHei"/>
                <a:cs typeface="Microsoft YaHei"/>
              </a:rPr>
              <a:t>约 10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095500"/>
            <a:ext cx="1809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五个板块，逐段推进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219200"/>
            <a:ext cx="571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1200150"/>
            <a:ext cx="4572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项目全景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1524000"/>
            <a:ext cx="6667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为什么做这个系统、做成什么样子、由哪些模块构成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12382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A8ADAC"/>
                </a:solidFill>
                <a:latin typeface="Consolas"/>
                <a:ea typeface="Consolas"/>
                <a:cs typeface="Consolas"/>
              </a:rPr>
              <a:t>P03 – P05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057400"/>
            <a:ext cx="10972800" cy="9525"/>
          </a:xfrm>
          <a:prstGeom prst="rect">
            <a:avLst/>
          </a:prstGeom>
          <a:solidFill>
            <a:srgbClr val="E3E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2228850"/>
            <a:ext cx="571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3500" y="2209800"/>
            <a:ext cx="4572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技术实现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500" y="2533650"/>
            <a:ext cx="6667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三层架构、四个关键技术点，以及员工模块3 的完整闭环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24790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A8ADAC"/>
                </a:solidFill>
                <a:latin typeface="Consolas"/>
                <a:ea typeface="Consolas"/>
                <a:cs typeface="Consolas"/>
              </a:rPr>
              <a:t>P06 – P08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3067050"/>
            <a:ext cx="10972800" cy="9525"/>
          </a:xfrm>
          <a:prstGeom prst="rect">
            <a:avLst/>
          </a:prstGeom>
          <a:solidFill>
            <a:srgbClr val="E3E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3238500"/>
            <a:ext cx="571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500" y="3219450"/>
            <a:ext cx="4572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界面呈现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3543300"/>
            <a:ext cx="6667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真实运行中的员工管理、数据统计、学员与日志界面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2575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A8ADAC"/>
                </a:solidFill>
                <a:latin typeface="Consolas"/>
                <a:ea typeface="Consolas"/>
                <a:cs typeface="Consolas"/>
              </a:rPr>
              <a:t>P09 – P11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4076700"/>
            <a:ext cx="10972800" cy="9525"/>
          </a:xfrm>
          <a:prstGeom prst="rect">
            <a:avLst/>
          </a:prstGeom>
          <a:solidFill>
            <a:srgbClr val="E3E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4248150"/>
            <a:ext cx="571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3500" y="4229100"/>
            <a:ext cx="4572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特色与成长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3500" y="4552950"/>
            <a:ext cx="6667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五条项目亮点，以及我在这条链路上获得的能力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26720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A8ADAC"/>
                </a:solidFill>
                <a:latin typeface="Consolas"/>
                <a:ea typeface="Consolas"/>
                <a:cs typeface="Consolas"/>
              </a:rPr>
              <a:t>P12 – P13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5086350"/>
            <a:ext cx="10972800" cy="9525"/>
          </a:xfrm>
          <a:prstGeom prst="rect">
            <a:avLst/>
          </a:prstGeom>
          <a:solidFill>
            <a:srgbClr val="E3E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600" y="5257800"/>
            <a:ext cx="571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3500" y="5238750"/>
            <a:ext cx="4572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未来规划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3500" y="5562600"/>
            <a:ext cx="6667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三阶段升级改造路线：先可维护，再可扩展，最后可规模化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52768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A8ADAC"/>
                </a:solidFill>
                <a:latin typeface="Consolas"/>
                <a:ea typeface="Consolas"/>
                <a:cs typeface="Consolas"/>
              </a:rPr>
              <a:t>P14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项目背景与目标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19150"/>
            <a:ext cx="952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从课程信息的分散管理，到一套可运营的数据后台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1985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Tlias 智能学习辅助系统 · 项目答辩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85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03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81100"/>
            <a:ext cx="571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为什么做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5811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1600200"/>
            <a:ext cx="4762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数据散落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1905000"/>
            <a:ext cx="52959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部门、员工、班级、学员分别维护，班级与班主任、学员与班级之间的关联靠人工记忆。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70510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2724150"/>
            <a:ext cx="4762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变更无痕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3028950"/>
            <a:ext cx="52959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谁在什么时候改了哪条记录没有留痕，出了问题无法回溯，缺少可追责的操作日志。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8290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50" y="3848100"/>
            <a:ext cx="4762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统计靠人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50" y="4152900"/>
            <a:ext cx="52959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人数、学历、岗位分布靠人工统计 Excel，数据一改就得重新汇总，统计与明细经常对不上。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9900" y="1181100"/>
            <a:ext cx="4762500" cy="35433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1409700"/>
            <a:ext cx="4191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项目目标与范围</a:t>
            </a:r>
          </a:p>
        </p:txBody>
      </p:sp>
      <p:sp>
        <p:nvSpPr>
          <p:cNvPr id="19" name="Oval 18"/>
          <p:cNvSpPr/>
          <p:nvPr/>
        </p:nvSpPr>
        <p:spPr>
          <a:xfrm>
            <a:off x="7086600" y="1885950"/>
            <a:ext cx="66675" cy="66675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150" y="1809750"/>
            <a:ext cx="40386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4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打通「部门—员工—班级—学员」四级主数据，员工可追溯工作经历，学员可定位班级。</a:t>
            </a:r>
          </a:p>
        </p:txBody>
      </p:sp>
      <p:sp>
        <p:nvSpPr>
          <p:cNvPr id="21" name="Oval 20"/>
          <p:cNvSpPr/>
          <p:nvPr/>
        </p:nvSpPr>
        <p:spPr>
          <a:xfrm>
            <a:off x="7086600" y="2762250"/>
            <a:ext cx="66675" cy="66675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96150" y="2686050"/>
            <a:ext cx="40386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4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所有写操作统一事务保护，统计口径全部实时聚合，不落冗余统计表。</a:t>
            </a:r>
          </a:p>
        </p:txBody>
      </p:sp>
      <p:sp>
        <p:nvSpPr>
          <p:cNvPr id="23" name="Oval 22"/>
          <p:cNvSpPr/>
          <p:nvPr/>
        </p:nvSpPr>
        <p:spPr>
          <a:xfrm>
            <a:off x="7086600" y="3638550"/>
            <a:ext cx="66675" cy="66675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150" y="3562350"/>
            <a:ext cx="40386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4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完整实现登录鉴权、文件上传与操作日志三条基础能力线。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9900" y="4914900"/>
            <a:ext cx="4762500" cy="1219200"/>
          </a:xfrm>
          <a:prstGeom prst="rect">
            <a:avLst/>
          </a:prstGeom>
          <a:solidFill>
            <a:srgbClr val="FC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19900" y="4914900"/>
            <a:ext cx="28575" cy="121920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9450" y="5067300"/>
            <a:ext cx="43434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正因为原业务天然存在「多表关联 + 增删改留痕」的复杂度，才值得用一套完整系统落地；也正因此，本项目的技术重点落在</a:t>
            </a:r>
            <a:r>
              <a:rPr sz="145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关联查询</a:t>
            </a:r>
            <a:r>
              <a:rPr sz="14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45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事务一致性</a:t>
            </a:r>
            <a:r>
              <a:rPr sz="14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上，而不是页面数量。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系统架构与技术栈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19150"/>
            <a:ext cx="952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三层分层 + 两项横切能力，改一个业务只动一个目录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1985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Tlias 智能学习辅助系统 · 项目答辩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85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04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181100"/>
            <a:ext cx="71247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181100"/>
            <a:ext cx="914400" cy="5905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850" y="139065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前端展现层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4500" y="1333500"/>
            <a:ext cx="847725" cy="2857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Vue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7475" y="1333500"/>
            <a:ext cx="1714500" cy="2857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Element Plus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7225" y="1333500"/>
            <a:ext cx="971550" cy="2857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Vite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4025" y="1333500"/>
            <a:ext cx="847725" cy="2857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Axios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981200"/>
            <a:ext cx="71247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1981200"/>
            <a:ext cx="914400" cy="5905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850" y="219075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后端业务层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14500" y="2133600"/>
            <a:ext cx="1466850" cy="2857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6600" y="2133600"/>
            <a:ext cx="1095375" cy="2857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7225" y="2133600"/>
            <a:ext cx="971550" cy="2857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Mapper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4025" y="2133600"/>
            <a:ext cx="1590675" cy="2857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MyBatis XML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2781300"/>
            <a:ext cx="71247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2781300"/>
            <a:ext cx="914400" cy="59055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850" y="299085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数据持久层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14500" y="2933700"/>
            <a:ext cx="1343025" cy="2857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MySQL 8.0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52775" y="2933700"/>
            <a:ext cx="971550" cy="2857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7 张业务表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19575" y="2933700"/>
            <a:ext cx="1095375" cy="2857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utf8mb4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10200" y="2933700"/>
            <a:ext cx="600075" cy="2857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连接池</a:t>
            </a:r>
          </a:p>
        </p:txBody>
      </p:sp>
      <p:sp>
        <p:nvSpPr>
          <p:cNvPr id="28" name="Isosceles Triangle 27"/>
          <p:cNvSpPr/>
          <p:nvPr/>
        </p:nvSpPr>
        <p:spPr>
          <a:xfrm rot="10800000">
            <a:off x="4105275" y="1790700"/>
            <a:ext cx="133350" cy="152400"/>
          </a:xfrm>
          <a:prstGeom prst="triangl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10800000">
            <a:off x="4105275" y="2590800"/>
            <a:ext cx="133350" cy="152400"/>
          </a:xfrm>
          <a:prstGeom prst="triangl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5300" y="1181100"/>
            <a:ext cx="3467100" cy="990600"/>
          </a:xfrm>
          <a:prstGeom prst="rect">
            <a:avLst/>
          </a:prstGeom>
          <a:solidFill>
            <a:srgbClr val="36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2000" y="1371600"/>
            <a:ext cx="304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JWT 登录鉴权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0" y="1676400"/>
            <a:ext cx="30289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FFFFE4"/>
                </a:solidFill>
                <a:latin typeface="Microsoft YaHei"/>
                <a:ea typeface="Microsoft YaHei"/>
                <a:cs typeface="Microsoft YaHei"/>
              </a:rPr>
              <a:t>拦截器从自定义 token 头取令牌并校验，未登录一律 401。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5300" y="2381250"/>
            <a:ext cx="3467100" cy="990600"/>
          </a:xfrm>
          <a:prstGeom prst="rect">
            <a:avLst/>
          </a:prstGeom>
          <a:solidFill>
            <a:srgbClr val="36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2000" y="2571750"/>
            <a:ext cx="304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AOP 操作日志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0" y="2876550"/>
            <a:ext cx="30289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FFFFE4"/>
                </a:solidFill>
                <a:latin typeface="Microsoft YaHei"/>
                <a:ea typeface="Microsoft YaHei"/>
                <a:cs typeface="Microsoft YaHei"/>
              </a:rPr>
              <a:t>环绕通知自动记录类名、方法、参数、返回值与耗时。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37338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技术栈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413385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D2B26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8250" y="4057650"/>
            <a:ext cx="2268855" cy="3238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Spring Boot 3.2.5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02355" y="4057650"/>
            <a:ext cx="1788795" cy="3238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MyBatis 3.0.3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0" y="4057650"/>
            <a:ext cx="2268855" cy="3238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MySQL Connector/J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50505" y="4057650"/>
            <a:ext cx="1548765" cy="3238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JJWT 0.12.5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94520" y="4057650"/>
            <a:ext cx="1428750" cy="3238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Spring AOP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018520" y="4057650"/>
            <a:ext cx="948690" cy="3238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Lombok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9600" y="4552950"/>
            <a:ext cx="10972800" cy="9525"/>
          </a:xfrm>
          <a:prstGeom prst="rect">
            <a:avLst/>
          </a:prstGeom>
          <a:solidFill>
            <a:srgbClr val="E3E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600" y="478155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D2B26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38250" y="4705350"/>
            <a:ext cx="1068705" cy="3238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Vue 3.4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02205" y="4705350"/>
            <a:ext cx="2148840" cy="3238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Element Plus 2.7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46295" y="4705350"/>
            <a:ext cx="1908810" cy="3238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Vue Router 4.4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50355" y="4705350"/>
            <a:ext cx="1188720" cy="3238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Vite 5.3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34325" y="4705350"/>
            <a:ext cx="1548765" cy="3238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ECharts 5.5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78340" y="4705350"/>
            <a:ext cx="1308735" cy="3238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Axios 1.6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9600" y="5200650"/>
            <a:ext cx="10972800" cy="9525"/>
          </a:xfrm>
          <a:prstGeom prst="rect">
            <a:avLst/>
          </a:prstGeom>
          <a:solidFill>
            <a:srgbClr val="E3E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9600" y="542925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D2B26"/>
                </a:solidFill>
                <a:latin typeface="Microsoft YaHei"/>
                <a:ea typeface="Microsoft YaHei"/>
                <a:cs typeface="Microsoft YaHei"/>
              </a:rPr>
              <a:t>工程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38250" y="5353050"/>
            <a:ext cx="828675" cy="3238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Maven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162175" y="5353050"/>
            <a:ext cx="588645" cy="3238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Git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846070" y="5353050"/>
            <a:ext cx="948690" cy="3238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GitHub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90010" y="5353050"/>
            <a:ext cx="1068705" cy="3238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Navicat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53965" y="5353050"/>
            <a:ext cx="948690" cy="3238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一键启动脚本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97905" y="5353050"/>
            <a:ext cx="1668780" cy="3238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初始化 SQL 随码交付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功能模块全景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19150"/>
            <a:ext cx="952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7 大业务域全部落地并可操作，接口规范逐条对应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1985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Tlias 智能学习辅助系统 · 项目答辩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85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05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295400"/>
            <a:ext cx="295275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295400"/>
            <a:ext cx="28575" cy="9525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150" y="1504950"/>
            <a:ext cx="2571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部门管理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1809750"/>
            <a:ext cx="2590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增删改查 · 唯一性约束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43350" y="1295400"/>
            <a:ext cx="295275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43350" y="1295400"/>
            <a:ext cx="28575" cy="95250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52900" y="1504950"/>
            <a:ext cx="2571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员工管理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2900" y="1809750"/>
            <a:ext cx="2590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条件分页 · 增删改查 · 工作经历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438400"/>
            <a:ext cx="295275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2438400"/>
            <a:ext cx="28575" cy="9525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150" y="2647950"/>
            <a:ext cx="2571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班级管理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2952750"/>
            <a:ext cx="2590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开课信息 · 班主任关联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43350" y="2438400"/>
            <a:ext cx="295275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43350" y="2438400"/>
            <a:ext cx="28575" cy="9525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52900" y="2647950"/>
            <a:ext cx="2571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学员管理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2900" y="2952750"/>
            <a:ext cx="2590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违纪记录 · 班级归属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3581400"/>
            <a:ext cx="295275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600" y="3581400"/>
            <a:ext cx="28575" cy="9525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150" y="3790950"/>
            <a:ext cx="2571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数据统计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50" y="4095750"/>
            <a:ext cx="2590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性别 / 职位 / 学历 / 人数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43350" y="3581400"/>
            <a:ext cx="295275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43350" y="3581400"/>
            <a:ext cx="28575" cy="9525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52900" y="3790950"/>
            <a:ext cx="2571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操作日志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2900" y="4095750"/>
            <a:ext cx="2590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AOP 自动埋点 · 耗时统计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4724400"/>
            <a:ext cx="295275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" y="4724400"/>
            <a:ext cx="28575" cy="95250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9150" y="4933950"/>
            <a:ext cx="2571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登录与上传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150" y="5238750"/>
            <a:ext cx="2590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JWT 签发 · 头像本地存储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43350" y="4724400"/>
            <a:ext cx="295275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43350" y="4724400"/>
            <a:ext cx="28575" cy="9525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52900" y="4933950"/>
            <a:ext cx="2571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统一约定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52900" y="5238750"/>
            <a:ext cx="2590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Result 响应体 · 401 拦截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7100" y="1238250"/>
            <a:ext cx="19050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363C3B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77100" y="2000250"/>
            <a:ext cx="4305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个 REST 接口全部实现并实测通过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77100" y="2381250"/>
            <a:ext cx="19050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4F81BD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77100" y="3143250"/>
            <a:ext cx="4305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张业务表：dept / emp / emp_expr / clazz / student / log / emp_log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77100" y="3524250"/>
            <a:ext cx="19050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77100" y="4286250"/>
            <a:ext cx="4305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个控制器承载全部业务域，职责边界清晰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77100" y="4514850"/>
            <a:ext cx="4305300" cy="1352550"/>
          </a:xfrm>
          <a:prstGeom prst="rect">
            <a:avLst/>
          </a:prstGeom>
          <a:solidFill>
            <a:srgbClr val="FC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77100" y="4514850"/>
            <a:ext cx="28575" cy="135255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86650" y="4667250"/>
            <a:ext cx="3886200" cy="1085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接口数与模块数一一对得上：接口文档里的每一条规范都找到了实现落点，而不是只做出「看起来像」的界面。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核心技术实现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19150"/>
            <a:ext cx="952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四个技术点，分别对应：查得准、控得住、留得全、不脏数据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1985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Tlias 智能学习辅助系统 · 项目答辩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85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06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200150"/>
            <a:ext cx="2476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四个关键技术点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638300"/>
            <a:ext cx="2476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AD2B26"/>
                </a:solidFill>
                <a:latin typeface="Microsoft YaHei"/>
                <a:ea typeface="Microsoft YaHei"/>
                <a:cs typeface="Microsoft YaHei"/>
              </a:rPr>
              <a:t>01   查得准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019300"/>
            <a:ext cx="2476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AD2B26"/>
                </a:solidFill>
                <a:latin typeface="Microsoft YaHei"/>
                <a:ea typeface="Microsoft YaHei"/>
                <a:cs typeface="Microsoft YaHei"/>
              </a:rPr>
              <a:t>02   控得住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400300"/>
            <a:ext cx="2476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AD2B26"/>
                </a:solidFill>
                <a:latin typeface="Microsoft YaHei"/>
                <a:ea typeface="Microsoft YaHei"/>
                <a:cs typeface="Microsoft YaHei"/>
              </a:rPr>
              <a:t>03   留得全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781300"/>
            <a:ext cx="2476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AD2B26"/>
                </a:solidFill>
                <a:latin typeface="Microsoft YaHei"/>
                <a:ea typeface="Microsoft YaHei"/>
                <a:cs typeface="Microsoft YaHei"/>
              </a:rPr>
              <a:t>04   不脏数据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238500"/>
            <a:ext cx="25146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不是课程例子的复刻，</a:t>
            </a:r>
          </a:p>
          <a:p>
            <a:pPr algn="l">
              <a:lnSpc>
                <a:spcPct val="170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而是我在真实联调中</a:t>
            </a:r>
          </a:p>
          <a:p>
            <a:pPr algn="l">
              <a:lnSpc>
                <a:spcPct val="170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遇到过问题、逐个定位解决。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4762500"/>
            <a:ext cx="2514600" cy="1104900"/>
          </a:xfrm>
          <a:prstGeom prst="rect">
            <a:avLst/>
          </a:prstGeom>
          <a:solidFill>
            <a:srgbClr val="FC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4762500"/>
            <a:ext cx="28575" cy="110490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150" y="4914900"/>
            <a:ext cx="20955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04 · 事务与传播</a:t>
            </a:r>
          </a:p>
          <a:p>
            <a:pPr algn="l">
              <a:lnSpc>
                <a:spcPct val="155000"/>
              </a:lnSpc>
            </a:pPr>
            <a:r>
              <a:rPr sz="13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两表同生共死，</a:t>
            </a:r>
          </a:p>
          <a:p>
            <a:pPr algn="l">
              <a:lnSpc>
                <a:spcPct val="155000"/>
              </a:lnSpc>
            </a:pPr>
            <a:r>
              <a:rPr sz="13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日志独立落库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2001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1450" y="1181100"/>
            <a:ext cx="4476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MyBatis 动态 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1450" y="1485900"/>
            <a:ext cx="46291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姓名、性别、入职日期三条件任意组合分页，条件为空自动跳过对应 where。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96350" y="1181100"/>
            <a:ext cx="2686050" cy="1066800"/>
          </a:xfrm>
          <a:prstGeom prst="rect">
            <a:avLst/>
          </a:prstGeom>
          <a:solidFill>
            <a:srgbClr val="36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96350" y="1181100"/>
            <a:ext cx="28575" cy="106680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48750" y="1295400"/>
            <a:ext cx="24574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&lt;if test="name != null and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  name != ''"&gt;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  and name like concat(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    '%', #{name}, '%')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&lt;/if&gt;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2362200"/>
            <a:ext cx="8153400" cy="9525"/>
          </a:xfrm>
          <a:prstGeom prst="rect">
            <a:avLst/>
          </a:prstGeom>
          <a:solidFill>
            <a:srgbClr val="E3E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247650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81450" y="2457450"/>
            <a:ext cx="4476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JWT + 登录拦截器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1450" y="2762250"/>
            <a:ext cx="46291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登录签发 JWT；拦截器从自定义 token 请求头取令牌，缺失或失效一律 401。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96350" y="2457450"/>
            <a:ext cx="2686050" cy="1066800"/>
          </a:xfrm>
          <a:prstGeom prst="rect">
            <a:avLst/>
          </a:prstGeom>
          <a:solidFill>
            <a:srgbClr val="36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96350" y="2457450"/>
            <a:ext cx="28575" cy="106680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48750" y="2571750"/>
            <a:ext cx="24574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String token = request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.getHeader("token");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if (token == null) {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  throw new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  NotLoginException(); 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3638550"/>
            <a:ext cx="8153400" cy="9525"/>
          </a:xfrm>
          <a:prstGeom prst="rect">
            <a:avLst/>
          </a:prstGeom>
          <a:solidFill>
            <a:srgbClr val="E3E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9000" y="37528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81450" y="3733800"/>
            <a:ext cx="4476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AOP 操作日志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81450" y="4038600"/>
            <a:ext cx="46291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环绕通知自动记录类名、方法名、请求参数、返回值与执行耗时，统一落库。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96350" y="3733800"/>
            <a:ext cx="2686050" cy="1066800"/>
          </a:xfrm>
          <a:prstGeom prst="rect">
            <a:avLst/>
          </a:prstGeom>
          <a:solidFill>
            <a:srgbClr val="36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96350" y="3733800"/>
            <a:ext cx="28575" cy="106680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48750" y="3848100"/>
            <a:ext cx="24574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@Around("execution(* com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.itheima.controller.*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.*(..))")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public Object around(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  ProceedingJoinPoint pjp)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  throws Throwable {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9000" y="4914900"/>
            <a:ext cx="8153400" cy="9525"/>
          </a:xfrm>
          <a:prstGeom prst="rect">
            <a:avLst/>
          </a:prstGeom>
          <a:solidFill>
            <a:srgbClr val="E3E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502920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81450" y="5010150"/>
            <a:ext cx="4476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事务与传播行为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81450" y="5314950"/>
            <a:ext cx="46291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save 加 rollbackFor 覆盖全部异常；finally 中以 REQUIRES_NEW 另起事务写日志。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96350" y="5010150"/>
            <a:ext cx="2686050" cy="1066800"/>
          </a:xfrm>
          <a:prstGeom prst="rect">
            <a:avLst/>
          </a:prstGeom>
          <a:solidFill>
            <a:srgbClr val="36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96350" y="5010150"/>
            <a:ext cx="28575" cy="106680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48750" y="5124450"/>
            <a:ext cx="24574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@Transactional(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  rollbackFor = Exception.class)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public void save(Emp emp) {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  try { ... } finally {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F0ECD6"/>
                </a:solidFill>
                <a:latin typeface="Consolas"/>
                <a:ea typeface="Consolas"/>
                <a:cs typeface="Consolas"/>
              </a:rPr>
              <a:t>    empLogService.insertLog(info);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核心业务时序：新增员工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19150"/>
            <a:ext cx="952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一次提交写两张表，业务数据与操作日志分属两个事务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1985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Tlias 智能学习辅助系统 · 项目答辩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85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07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409700"/>
            <a:ext cx="2543175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409700"/>
            <a:ext cx="2543175" cy="28575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1638300"/>
            <a:ext cx="21621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前端表单提交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1924050"/>
            <a:ext cx="21812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基本信息 + 动态工作经历行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3219450" y="1762125"/>
            <a:ext cx="133350" cy="133350"/>
          </a:xfrm>
          <a:prstGeom prst="triangl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9475" y="1409700"/>
            <a:ext cx="2543175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9475" y="1409700"/>
            <a:ext cx="2543175" cy="28575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9975" y="1638300"/>
            <a:ext cx="21621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Controller 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9975" y="1924050"/>
            <a:ext cx="21812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JSON 反序列化与必填规则校验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6029325" y="1762125"/>
            <a:ext cx="133350" cy="133350"/>
          </a:xfrm>
          <a:prstGeom prst="triangl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9350" y="1409700"/>
            <a:ext cx="2543175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9350" y="1409700"/>
            <a:ext cx="2543175" cy="28575"/>
          </a:xfrm>
          <a:prstGeom prst="rect">
            <a:avLst/>
          </a:prstGeom>
          <a:solidFill>
            <a:srgbClr val="36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850" y="1638300"/>
            <a:ext cx="21621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Service 开启主事务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1924050"/>
            <a:ext cx="21812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@Transactional(rollbackFor)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8839200" y="1762125"/>
            <a:ext cx="133350" cy="133350"/>
          </a:xfrm>
          <a:prstGeom prst="triangl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9225" y="1409700"/>
            <a:ext cx="2543175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39225" y="1409700"/>
            <a:ext cx="2543175" cy="28575"/>
          </a:xfrm>
          <a:prstGeom prst="rect">
            <a:avLst/>
          </a:prstGeom>
          <a:solidFill>
            <a:srgbClr val="36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9725" y="1638300"/>
            <a:ext cx="21621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emp + emp_expr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9725" y="1924050"/>
            <a:ext cx="21812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两张表在同一事务内写入</a:t>
            </a:r>
          </a:p>
        </p:txBody>
      </p:sp>
      <p:sp>
        <p:nvSpPr>
          <p:cNvPr id="26" name="Isosceles Triangle 25"/>
          <p:cNvSpPr/>
          <p:nvPr/>
        </p:nvSpPr>
        <p:spPr>
          <a:xfrm rot="10800000">
            <a:off x="10244138" y="2305050"/>
            <a:ext cx="133350" cy="228600"/>
          </a:xfrm>
          <a:prstGeom prst="triangle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600" y="2686050"/>
            <a:ext cx="5295900" cy="112395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" y="2686050"/>
            <a:ext cx="28575" cy="112395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200" y="2857500"/>
            <a:ext cx="4762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业务异常 → 主事务回滚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162300"/>
            <a:ext cx="4762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emp 与 emp_expr 一并回滚，员工与其工作经历不会留下「只写了一半」的脏数据。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6057900" y="3133725"/>
            <a:ext cx="171450" cy="133350"/>
          </a:xfrm>
          <a:prstGeom prst="triangle">
            <a:avLst/>
          </a:prstGeom>
          <a:solidFill>
            <a:srgbClr val="36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81750" y="2686050"/>
            <a:ext cx="5200650" cy="1123950"/>
          </a:xfrm>
          <a:prstGeom prst="rect">
            <a:avLst/>
          </a:prstGeom>
          <a:solidFill>
            <a:srgbClr val="36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2857500"/>
            <a:ext cx="4667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finally → emp_log 独立事务提交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162300"/>
            <a:ext cx="4667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FFFFE4"/>
                </a:solidFill>
                <a:latin typeface="Microsoft YaHei"/>
                <a:ea typeface="Microsoft YaHei"/>
                <a:cs typeface="Microsoft YaHei"/>
              </a:rPr>
              <a:t>REQUIRES_NEW 挂起外层事务另起新事务：即便业务回滚，这次「谁在何时新增了谁」依然留痕。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600" y="4076700"/>
            <a:ext cx="3505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9600" y="4076700"/>
            <a:ext cx="28575" cy="9144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9150" y="4267200"/>
            <a:ext cx="30861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一致性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150" y="4552950"/>
            <a:ext cx="3086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emp 与 emp_expr 共享一个事务边界，任何一步失败整体回滚。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4076700"/>
            <a:ext cx="3505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4076700"/>
            <a:ext cx="28575" cy="9144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52950" y="4267200"/>
            <a:ext cx="30861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传播行为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2950" y="4552950"/>
            <a:ext cx="3086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REQUIRES_NEW 让操作日志在业务回滚时依然能落库，这正是它的用途。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77200" y="4076700"/>
            <a:ext cx="3505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77200" y="4076700"/>
            <a:ext cx="28575" cy="9144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86750" y="4267200"/>
            <a:ext cx="30861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可观测性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6750" y="4552950"/>
            <a:ext cx="3086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日志表已沉淀 100+ 条真实记录，AOP 埋点在日常使用中持续生效。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5181600"/>
            <a:ext cx="10972800" cy="704850"/>
          </a:xfrm>
          <a:prstGeom prst="rect">
            <a:avLst/>
          </a:prstGeom>
          <a:solidFill>
            <a:srgbClr val="FC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9600" y="5181600"/>
            <a:ext cx="28575" cy="70485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9150" y="5334000"/>
            <a:ext cx="105537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这是我在本项目里理解最深的一处：</a:t>
            </a:r>
            <a:r>
              <a:rPr sz="15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业务数据与操作日志刻意分属两个事务</a:t>
            </a:r>
            <a:r>
              <a:rPr sz="150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——业务回滚不能抹掉「谁做了什么」的痕迹。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员工模块3 · 修改 / 删除 / 异常 / 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19150"/>
            <a:ext cx="952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从「能新增」到「能改、能删、能兜底、能统计」的完整闭环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1985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Tlias 智能学习辅助系统 · 项目答辩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85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08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181100"/>
            <a:ext cx="2514600" cy="4972050"/>
          </a:xfrm>
          <a:prstGeom prst="rect">
            <a:avLst/>
          </a:prstGeom>
          <a:solidFill>
            <a:srgbClr val="36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1466850"/>
            <a:ext cx="2057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个功能点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1924050"/>
            <a:ext cx="457200" cy="28575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171700"/>
            <a:ext cx="2057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E4"/>
                </a:solidFill>
                <a:latin typeface="Microsoft YaHei"/>
                <a:ea typeface="Microsoft YaHei"/>
                <a:cs typeface="Microsoft YaHei"/>
              </a:rPr>
              <a:t>01   修改员工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590800"/>
            <a:ext cx="2057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E4"/>
                </a:solidFill>
                <a:latin typeface="Microsoft YaHei"/>
                <a:ea typeface="Microsoft YaHei"/>
                <a:cs typeface="Microsoft YaHei"/>
              </a:rPr>
              <a:t>02   批量删除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009900"/>
            <a:ext cx="2057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E4"/>
                </a:solidFill>
                <a:latin typeface="Microsoft YaHei"/>
                <a:ea typeface="Microsoft YaHei"/>
                <a:cs typeface="Microsoft YaHei"/>
              </a:rPr>
              <a:t>03   异常处理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429000"/>
            <a:ext cx="2057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E4"/>
                </a:solidFill>
                <a:latin typeface="Microsoft YaHei"/>
                <a:ea typeface="Microsoft YaHei"/>
                <a:cs typeface="Microsoft YaHei"/>
              </a:rPr>
              <a:t>04   员工统计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000500"/>
            <a:ext cx="2057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300" b="0">
                <a:solidFill>
                  <a:srgbClr val="B8C2C0"/>
                </a:solidFill>
                <a:latin typeface="Microsoft YaHei"/>
                <a:ea typeface="Microsoft YaHei"/>
                <a:cs typeface="Microsoft YaHei"/>
              </a:rPr>
              <a:t>这四个功能是课程《员工模块3》的全部要求，</a:t>
            </a:r>
          </a:p>
          <a:p>
            <a:pPr algn="l">
              <a:lnSpc>
                <a:spcPct val="175000"/>
              </a:lnSpc>
            </a:pPr>
            <a:r>
              <a:rPr sz="1300" b="0">
                <a:solidFill>
                  <a:srgbClr val="B8C2C0"/>
                </a:solidFill>
                <a:latin typeface="Microsoft YaHei"/>
                <a:ea typeface="Microsoft YaHei"/>
                <a:cs typeface="Microsoft YaHei"/>
              </a:rPr>
              <a:t>也是「员工管理」真正闭环的最后一公里。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8200" y="5181600"/>
            <a:ext cx="2057400" cy="762000"/>
          </a:xfrm>
          <a:prstGeom prst="rect">
            <a:avLst/>
          </a:prstGeom>
          <a:solidFill>
            <a:srgbClr val="FC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8200" y="5181600"/>
            <a:ext cx="28575" cy="76200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7750" y="5334000"/>
            <a:ext cx="16383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4 类接口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全部实测通过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67100" y="1181100"/>
            <a:ext cx="3962400" cy="2381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67100" y="1181100"/>
            <a:ext cx="3962400" cy="28575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95700" y="1409700"/>
            <a:ext cx="571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5700" y="1733550"/>
            <a:ext cx="342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修改员工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5700" y="2095500"/>
            <a:ext cx="35052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3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一条 left join + resultMap 的 collection，一次查出基本信息与全部工作经历；保存时先删旧经历、再批量插新经历，与基本信息同事务提交。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95700" y="3048000"/>
            <a:ext cx="3505200" cy="323850"/>
          </a:xfrm>
          <a:prstGeom prst="rect">
            <a:avLst/>
          </a:prstGeom>
          <a:solidFill>
            <a:srgbClr val="FC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0000" y="3133725"/>
            <a:ext cx="3314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GET /emps/{id}   ·   PUT /emps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0" y="1181100"/>
            <a:ext cx="3962400" cy="2381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20000" y="1181100"/>
            <a:ext cx="3962400" cy="28575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8600" y="1409700"/>
            <a:ext cx="571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8600" y="1733550"/>
            <a:ext cx="342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批量删除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8600" y="2095500"/>
            <a:ext cx="35052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3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一个接口同时兼容单删与批量：先按员工 ID 清空 emp_expr 的工作经历，再删 emp 主表，事务保证不残留孤儿数据。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48600" y="3048000"/>
            <a:ext cx="3505200" cy="323850"/>
          </a:xfrm>
          <a:prstGeom prst="rect">
            <a:avLst/>
          </a:prstGeom>
          <a:solidFill>
            <a:srgbClr val="FC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62900" y="3133725"/>
            <a:ext cx="3314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DELETE /emps?ids=1,2,3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67100" y="3733800"/>
            <a:ext cx="3962400" cy="2381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67100" y="3733800"/>
            <a:ext cx="3962400" cy="28575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95700" y="3962400"/>
            <a:ext cx="571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95700" y="4286250"/>
            <a:ext cx="342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全局异常处理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95700" y="4648200"/>
            <a:ext cx="35052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3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emp.phone 加唯一约束，重复手机号会抛 DuplicateKeyException；全局异常处理器将其翻译为「该手机号已被其他员工占用」这类可读提示，而非框架默认的 500 堆栈。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95700" y="5600700"/>
            <a:ext cx="3505200" cy="323850"/>
          </a:xfrm>
          <a:prstGeom prst="rect">
            <a:avLst/>
          </a:prstGeom>
          <a:solidFill>
            <a:srgbClr val="FC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10000" y="5686425"/>
            <a:ext cx="3314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DuplicateKeyException  -&gt;  code:0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20000" y="3733800"/>
            <a:ext cx="3962400" cy="2381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20000" y="3733800"/>
            <a:ext cx="3962400" cy="28575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48600" y="3962400"/>
            <a:ext cx="571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8600" y="4286250"/>
            <a:ext cx="342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员工信息统计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8600" y="4648200"/>
            <a:ext cx="35052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3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case when 把 job 翻译成职位名后 group by 聚合，结果用 JobOption 封装为 jobList / dataList，前端 ECharts 直接消费，服务端不画图。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48600" y="5600700"/>
            <a:ext cx="3505200" cy="323850"/>
          </a:xfrm>
          <a:prstGeom prst="rect">
            <a:avLst/>
          </a:prstGeom>
          <a:solidFill>
            <a:srgbClr val="FC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62900" y="5686425"/>
            <a:ext cx="3314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GET /report/empJobData  ·  /empGenderData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界面呈现 · 员工管理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19150"/>
            <a:ext cx="952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真实运行中的系统界面（非设计稿、非 Mock）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1985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Tlias 智能学习辅助系统 · 项目答辩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85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09 / 15</a:t>
            </a:r>
          </a:p>
        </p:txBody>
      </p:sp>
      <p:pic>
        <p:nvPicPr>
          <p:cNvPr id="7" name="Picture 6" descr="03_employee_list.png"/>
          <p:cNvPicPr>
            <a:picLocks noChangeAspect="1"/>
          </p:cNvPicPr>
          <p:nvPr/>
        </p:nvPicPr>
        <p:blipFill>
          <a:blip r:embed="rId2"/>
          <a:srcRect b="27000"/>
          <a:stretch>
            <a:fillRect/>
          </a:stretch>
        </p:blipFill>
        <p:spPr>
          <a:xfrm>
            <a:off x="609600" y="1123950"/>
            <a:ext cx="10972800" cy="44767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9600" y="5753100"/>
            <a:ext cx="10972800" cy="533400"/>
          </a:xfrm>
          <a:prstGeom prst="rect">
            <a:avLst/>
          </a:prstGeom>
          <a:solidFill>
            <a:srgbClr val="FC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5753100"/>
            <a:ext cx="28575" cy="53340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150" y="5905500"/>
            <a:ext cx="10553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左侧六模块导航、条件查询（姓名 / 性别 / 入职日期）、分页表格与批量删除</a:t>
            </a:r>
            <a:r>
              <a:rPr sz="145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同时可用</a:t>
            </a:r>
            <a:r>
              <a:rPr sz="14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——说明动态 SQL 与批量 SQL 都经过了真实数据验证。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界面呈现 · 数据统计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19150"/>
            <a:ext cx="952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四组统计图表，全部由后端实时聚合返回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1985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Tlias 智能学习辅助系统 · 项目答辩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85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10 / 15</a:t>
            </a:r>
          </a:p>
        </p:txBody>
      </p:sp>
      <p:pic>
        <p:nvPicPr>
          <p:cNvPr id="7" name="Picture 6" descr="05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57300"/>
            <a:ext cx="7277100" cy="40933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1219200"/>
            <a:ext cx="342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四组统计，实时聚合</a:t>
            </a:r>
          </a:p>
        </p:txBody>
      </p:sp>
      <p:sp>
        <p:nvSpPr>
          <p:cNvPr id="9" name="Oval 8"/>
          <p:cNvSpPr/>
          <p:nvPr/>
        </p:nvSpPr>
        <p:spPr>
          <a:xfrm>
            <a:off x="8153400" y="1724025"/>
            <a:ext cx="66675" cy="66675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3900" y="1638300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员工性别统计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885950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饼图：男女比例分布</a:t>
            </a:r>
          </a:p>
        </p:txBody>
      </p:sp>
      <p:sp>
        <p:nvSpPr>
          <p:cNvPr id="12" name="Oval 11"/>
          <p:cNvSpPr/>
          <p:nvPr/>
        </p:nvSpPr>
        <p:spPr>
          <a:xfrm>
            <a:off x="8153400" y="2352675"/>
            <a:ext cx="66675" cy="66675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3900" y="2266950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员工职位人数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2514600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柱图：五类岗位人数对比</a:t>
            </a:r>
          </a:p>
        </p:txBody>
      </p:sp>
      <p:sp>
        <p:nvSpPr>
          <p:cNvPr id="15" name="Oval 14"/>
          <p:cNvSpPr/>
          <p:nvPr/>
        </p:nvSpPr>
        <p:spPr>
          <a:xfrm>
            <a:off x="8153400" y="2981325"/>
            <a:ext cx="66675" cy="66675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3900" y="2895600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学员学历统计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143250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饼图：本科 / 硕士 / 初中占比</a:t>
            </a:r>
          </a:p>
        </p:txBody>
      </p:sp>
      <p:sp>
        <p:nvSpPr>
          <p:cNvPr id="18" name="Oval 17"/>
          <p:cNvSpPr/>
          <p:nvPr/>
        </p:nvSpPr>
        <p:spPr>
          <a:xfrm>
            <a:off x="8153400" y="3609975"/>
            <a:ext cx="66675" cy="66675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3900" y="3524250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班级人数统计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900" y="3771900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柱图：三个班级在读人数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3400" y="4381500"/>
            <a:ext cx="3429000" cy="1104900"/>
          </a:xfrm>
          <a:prstGeom prst="rect">
            <a:avLst/>
          </a:prstGeom>
          <a:solidFill>
            <a:srgbClr val="FC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3400" y="4381500"/>
            <a:ext cx="28575" cy="110490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2950" y="4533900"/>
            <a:ext cx="30099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统计接口</a:t>
            </a:r>
            <a:r>
              <a:rPr sz="135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不落库</a:t>
            </a:r>
            <a:r>
              <a:rPr sz="13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、全部实时聚合，数据源唯一，避免了「统计结果与明细对不上」这一常见问题。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界面呈现 · 学员管理与操作日志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19150"/>
            <a:ext cx="952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业务数据与系统留痕，两条线同时可查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1985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Tlias 智能学习辅助系统 · 项目答辩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85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11 / 15</a:t>
            </a:r>
          </a:p>
        </p:txBody>
      </p:sp>
      <p:pic>
        <p:nvPicPr>
          <p:cNvPr id="7" name="Picture 6" descr="06_stu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19200"/>
            <a:ext cx="6057900" cy="3407569"/>
          </a:xfrm>
          <a:prstGeom prst="rect">
            <a:avLst/>
          </a:prstGeom>
        </p:spPr>
      </p:pic>
      <p:pic>
        <p:nvPicPr>
          <p:cNvPr id="8" name="Picture 7" descr="08_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1219200"/>
            <a:ext cx="4572000" cy="2571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10400" y="39243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操作日志（AOP 自动埋点）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400" y="4191000"/>
            <a:ext cx="457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记录类名、方法名、请求参数、返回值与耗时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914900"/>
            <a:ext cx="10972800" cy="971550"/>
          </a:xfrm>
          <a:prstGeom prst="rect">
            <a:avLst/>
          </a:prstGeom>
          <a:solidFill>
            <a:srgbClr val="FC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914900"/>
            <a:ext cx="28575" cy="97155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150" y="5067300"/>
            <a:ext cx="105537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左侧学员管理含违纪次数、扣分与班级归属字段；右侧日志表已沉淀 </a:t>
            </a:r>
            <a:r>
              <a:rPr sz="15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100+ 条真实操作记录</a:t>
            </a:r>
            <a:r>
              <a:rPr sz="150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——AOP 埋点在日常使用中持续生效，这是系统「能自证运行」的运维底座。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项目特色亮点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19150"/>
            <a:ext cx="952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前四条证明技术深度，第五条证明工程习惯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1985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Tlias 智能学习辅助系统 · 项目答辩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85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238250"/>
            <a:ext cx="723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1257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按接口文档 100% 交付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7800" y="1581150"/>
            <a:ext cx="4000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接口文档里写明的 30 条规范全部实现并实测通过，没有「差不多」的近似实现。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114550"/>
            <a:ext cx="10972800" cy="9525"/>
          </a:xfrm>
          <a:prstGeom prst="rect">
            <a:avLst/>
          </a:prstGeom>
          <a:solidFill>
            <a:srgbClr val="E3E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2228850"/>
            <a:ext cx="723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7800" y="22479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端到端真实可运行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7800" y="2571750"/>
            <a:ext cx="4000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真实 MySQL 库、真实前后端联调、真实浏览器操作，不依赖任何 Mock 或假数据。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3105150"/>
            <a:ext cx="10972800" cy="9525"/>
          </a:xfrm>
          <a:prstGeom prst="rect">
            <a:avLst/>
          </a:prstGeom>
          <a:solidFill>
            <a:srgbClr val="E3E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3219450"/>
            <a:ext cx="723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7800" y="32385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跨表事务一致性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7800" y="3562350"/>
            <a:ext cx="4000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新增员工时 emp 与 emp_expr 同事务写入，并指定 rollbackFor 覆盖全部异常。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4095750"/>
            <a:ext cx="10972800" cy="9525"/>
          </a:xfrm>
          <a:prstGeom prst="rect">
            <a:avLst/>
          </a:prstGeom>
          <a:solidFill>
            <a:srgbClr val="E3E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" y="4210050"/>
            <a:ext cx="723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7800" y="42291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事务传播行为落地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7800" y="4552950"/>
            <a:ext cx="4000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emp_log 以 REQUIRES_NEW 独立提交，业务回滚时操作痕迹依然留痕。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5086350"/>
            <a:ext cx="10972800" cy="9525"/>
          </a:xfrm>
          <a:prstGeom prst="rect">
            <a:avLst/>
          </a:prstGeom>
          <a:solidFill>
            <a:srgbClr val="E3E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200650"/>
            <a:ext cx="723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AD2B26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7800" y="52197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工程化闭环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7800" y="5543550"/>
            <a:ext cx="4000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Git 版本管理、GitHub 公开仓库、一键启动脚本、初始化 SQL 随码交付。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0" y="1466850"/>
            <a:ext cx="52959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与课程示例的差异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6500" y="1847850"/>
            <a:ext cx="5295900" cy="1409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96050" y="2133600"/>
            <a:ext cx="66675" cy="66675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86550" y="2057400"/>
            <a:ext cx="47053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课程示例中「新增员工」只演示成功路径，我补齐了异常回滚与日志留痕两条分支。</a:t>
            </a:r>
          </a:p>
        </p:txBody>
      </p:sp>
      <p:sp>
        <p:nvSpPr>
          <p:cNvPr id="30" name="Oval 29"/>
          <p:cNvSpPr/>
          <p:nvPr/>
        </p:nvSpPr>
        <p:spPr>
          <a:xfrm>
            <a:off x="6496050" y="2762250"/>
            <a:ext cx="66675" cy="66675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86550" y="2686050"/>
            <a:ext cx="47053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示例里操作日志靠手动调用，我改为 AOP 环绕通知自动埋点，零侵入。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86500" y="3467100"/>
            <a:ext cx="5295900" cy="1238250"/>
          </a:xfrm>
          <a:prstGeom prst="rect">
            <a:avLst/>
          </a:prstGeom>
          <a:solidFill>
            <a:srgbClr val="FC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86500" y="3467100"/>
            <a:ext cx="28575" cy="123825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6050" y="3619500"/>
            <a:ext cx="4876800" cy="971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前四条是</a:t>
            </a:r>
            <a:r>
              <a:rPr sz="145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技术深度</a:t>
            </a:r>
            <a:r>
              <a:rPr sz="14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，第五条是</a:t>
            </a:r>
            <a:r>
              <a:rPr sz="145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工程习惯</a:t>
            </a:r>
            <a:r>
              <a:rPr sz="14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——两者合起来，才是一个「能被团队接手」的系统。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个人成长与收获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19150"/>
            <a:ext cx="952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最大的成长不是某个 API 会用，而是完整链路走通了一遍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1985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Tlias 智能学习辅助系统 · 项目答辩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85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13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181100"/>
            <a:ext cx="2514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1409700"/>
            <a:ext cx="2057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起点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771650"/>
            <a:ext cx="2057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3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会用 Java 语法与面向对象</a:t>
            </a:r>
          </a:p>
          <a:p>
            <a:pPr algn="l">
              <a:lnSpc>
                <a:spcPct val="185000"/>
              </a:lnSpc>
            </a:pPr>
            <a:r>
              <a:rPr sz="13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能用 JDBC 写单表增删改查</a:t>
            </a:r>
          </a:p>
          <a:p>
            <a:pPr algn="l">
              <a:lnSpc>
                <a:spcPct val="185000"/>
              </a:lnSpc>
            </a:pPr>
            <a:r>
              <a:rPr sz="13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做过 Python + Flask 的小型后端</a:t>
            </a:r>
          </a:p>
          <a:p>
            <a:pPr algn="l">
              <a:lnSpc>
                <a:spcPct val="185000"/>
              </a:lnSpc>
            </a:pPr>
            <a:r>
              <a:rPr sz="13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没有写过完整的前后端分离项目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3219450" y="2143125"/>
            <a:ext cx="190500" cy="133350"/>
          </a:xfrm>
          <a:prstGeom prst="triangle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450" y="1181100"/>
            <a:ext cx="2857500" cy="2286000"/>
          </a:xfrm>
          <a:prstGeom prst="rect">
            <a:avLst/>
          </a:prstGeom>
          <a:solidFill>
            <a:srgbClr val="36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9050" y="1409700"/>
            <a:ext cx="24003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E4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9050" y="1771650"/>
            <a:ext cx="24003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350" b="0">
                <a:solidFill>
                  <a:srgbClr val="FFFFE4"/>
                </a:solidFill>
                <a:latin typeface="Microsoft YaHei"/>
                <a:ea typeface="Microsoft YaHei"/>
                <a:cs typeface="Microsoft YaHei"/>
              </a:rPr>
              <a:t>独立完成 30 个接口的全栈系统</a:t>
            </a:r>
          </a:p>
          <a:p>
            <a:pPr algn="l">
              <a:lnSpc>
                <a:spcPct val="185000"/>
              </a:lnSpc>
            </a:pPr>
            <a:r>
              <a:rPr sz="1350" b="0">
                <a:solidFill>
                  <a:srgbClr val="FFFFE4"/>
                </a:solidFill>
                <a:latin typeface="Microsoft YaHei"/>
                <a:ea typeface="Microsoft YaHei"/>
                <a:cs typeface="Microsoft YaHei"/>
              </a:rPr>
              <a:t>落地 JWT 鉴权、AOP 日志与事务传播</a:t>
            </a:r>
          </a:p>
          <a:p>
            <a:pPr algn="l">
              <a:lnSpc>
                <a:spcPct val="185000"/>
              </a:lnSpc>
            </a:pPr>
            <a:r>
              <a:rPr sz="1350" b="0">
                <a:solidFill>
                  <a:srgbClr val="FFFFE4"/>
                </a:solidFill>
                <a:latin typeface="Microsoft YaHei"/>
                <a:ea typeface="Microsoft YaHei"/>
                <a:cs typeface="Microsoft YaHei"/>
              </a:rPr>
              <a:t>能定位端口占用、MyBatis 映射未加载、代理证书等问题</a:t>
            </a:r>
          </a:p>
          <a:p>
            <a:pPr algn="l">
              <a:lnSpc>
                <a:spcPct val="185000"/>
              </a:lnSpc>
            </a:pPr>
            <a:r>
              <a:rPr sz="1350" b="0">
                <a:solidFill>
                  <a:srgbClr val="FFFFE4"/>
                </a:solidFill>
                <a:latin typeface="Microsoft YaHei"/>
                <a:ea typeface="Microsoft YaHei"/>
                <a:cs typeface="Microsoft YaHei"/>
              </a:rPr>
              <a:t>养成了版本管理与交付意识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7500" y="1181100"/>
            <a:ext cx="4914900" cy="2286000"/>
          </a:xfrm>
          <a:prstGeom prst="rect">
            <a:avLst/>
          </a:prstGeom>
          <a:solidFill>
            <a:srgbClr val="FC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6100" y="1409700"/>
            <a:ext cx="44577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三条具体收获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6100" y="1771650"/>
            <a:ext cx="4457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AD2B26"/>
                </a:solidFill>
                <a:latin typeface="Microsoft YaHei"/>
                <a:ea typeface="Microsoft YaHei"/>
                <a:cs typeface="Microsoft YaHei"/>
              </a:rPr>
              <a:t>· 把需求文档当唯一事实来源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6100" y="2000250"/>
            <a:ext cx="4457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接口文档里没写的，我不臆造；文档里写了的，逐条找到落点。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6100" y="2324100"/>
            <a:ext cx="4457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AD2B26"/>
                </a:solidFill>
                <a:latin typeface="Microsoft YaHei"/>
                <a:ea typeface="Microsoft YaHei"/>
                <a:cs typeface="Microsoft YaHei"/>
              </a:rPr>
              <a:t>· 排错能力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6100" y="2552700"/>
            <a:ext cx="4457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端口被优酷占用、mapper-locations 漏配、代理 TLS 拦截——都能独立定位根因。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6100" y="2876550"/>
            <a:ext cx="4457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AD2B26"/>
                </a:solidFill>
                <a:latin typeface="Microsoft YaHei"/>
                <a:ea typeface="Microsoft YaHei"/>
                <a:cs typeface="Microsoft YaHei"/>
              </a:rPr>
              <a:t>· 交付意识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6100" y="3105150"/>
            <a:ext cx="4457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SQL 随码交付、启动脚本、Git 提交信息与 README，让别人能接手。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3771900"/>
            <a:ext cx="109728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能力矩阵：从单点技术到完整链路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4152900"/>
            <a:ext cx="1809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Java / 面向对象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4210050"/>
            <a:ext cx="4000500" cy="114300"/>
          </a:xfrm>
          <a:prstGeom prst="rect">
            <a:avLst/>
          </a:prstGeom>
          <a:solidFill>
            <a:srgbClr val="E3E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14600" y="4210050"/>
            <a:ext cx="1600200" cy="1143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7500" y="41529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由语法学习到用继承、多态与接口组织可扩展的业务分层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4724400"/>
            <a:ext cx="1809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MySQL / SQL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4781550"/>
            <a:ext cx="4000500" cy="114300"/>
          </a:xfrm>
          <a:prstGeom prst="rect">
            <a:avLst/>
          </a:prstGeom>
          <a:solidFill>
            <a:srgbClr val="E3E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14600" y="4781550"/>
            <a:ext cx="2800350" cy="1143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67500" y="47244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由单表 CRUD 到三条件动态分页、联表统计与七表设计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5295900"/>
            <a:ext cx="1809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Spring Boot / MyBatis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5353050"/>
            <a:ext cx="4000500" cy="114300"/>
          </a:xfrm>
          <a:prstGeom prst="rect">
            <a:avLst/>
          </a:prstGeom>
          <a:solidFill>
            <a:srgbClr val="E3E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14600" y="5353050"/>
            <a:ext cx="3000375" cy="1143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67500" y="52959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由看懂示例到独立完成分层架构、事务与 AOP 埋点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5867400"/>
            <a:ext cx="1809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前端 / Vue3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5924550"/>
            <a:ext cx="4000500" cy="114300"/>
          </a:xfrm>
          <a:prstGeom prst="rect">
            <a:avLst/>
          </a:prstGeom>
          <a:solidFill>
            <a:srgbClr val="E3E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14600" y="5924550"/>
            <a:ext cx="2400300" cy="1143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67500" y="58674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由静态页面到组件化页面、表格分页、ECharts 与文件上传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438900"/>
            <a:ext cx="1809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工程 / Git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14600" y="6496050"/>
            <a:ext cx="4000500" cy="114300"/>
          </a:xfrm>
          <a:prstGeom prst="rect">
            <a:avLst/>
          </a:prstGeom>
          <a:solidFill>
            <a:srgbClr val="E3E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14600" y="6496050"/>
            <a:ext cx="2600325" cy="1143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67500" y="64389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由本地写代码到版本管理、远端仓库与一键启动交付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后期升级改造规划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19150"/>
            <a:ext cx="952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先可维护、再可扩展、最后可规模化，不做过度设计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1985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Tlias 智能学习辅助系统 · 项目答辩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85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14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628900"/>
            <a:ext cx="3352800" cy="23241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628900"/>
            <a:ext cx="3352800" cy="28575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2819400"/>
            <a:ext cx="289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阶段一 · 工程加固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105150"/>
            <a:ext cx="2895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AD2B26"/>
                </a:solidFill>
                <a:latin typeface="Microsoft YaHei"/>
                <a:ea typeface="Microsoft YaHei"/>
                <a:cs typeface="Microsoft YaHei"/>
              </a:rPr>
              <a:t>补齐工程规范</a:t>
            </a:r>
          </a:p>
        </p:txBody>
      </p:sp>
      <p:sp>
        <p:nvSpPr>
          <p:cNvPr id="11" name="Oval 10"/>
          <p:cNvSpPr/>
          <p:nvPr/>
        </p:nvSpPr>
        <p:spPr>
          <a:xfrm>
            <a:off x="838200" y="3524250"/>
            <a:ext cx="57150" cy="57150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3448050"/>
            <a:ext cx="2705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接入 OpenAPI / Swagger，接口文档同源</a:t>
            </a:r>
          </a:p>
        </p:txBody>
      </p:sp>
      <p:sp>
        <p:nvSpPr>
          <p:cNvPr id="13" name="Oval 12"/>
          <p:cNvSpPr/>
          <p:nvPr/>
        </p:nvSpPr>
        <p:spPr>
          <a:xfrm>
            <a:off x="838200" y="4019550"/>
            <a:ext cx="57150" cy="57150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8700" y="3943350"/>
            <a:ext cx="2705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为核心 Service 补单元测试与集成测试</a:t>
            </a:r>
          </a:p>
        </p:txBody>
      </p:sp>
      <p:sp>
        <p:nvSpPr>
          <p:cNvPr id="15" name="Oval 14"/>
          <p:cNvSpPr/>
          <p:nvPr/>
        </p:nvSpPr>
        <p:spPr>
          <a:xfrm>
            <a:off x="838200" y="4514850"/>
            <a:ext cx="57150" cy="57150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4438650"/>
            <a:ext cx="2705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异常日志分级，增加链路追踪 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7200" y="1905000"/>
            <a:ext cx="33528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7200" y="1905000"/>
            <a:ext cx="3352800" cy="28575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5800" y="2095500"/>
            <a:ext cx="289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阶段二 · 能力扩展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5800" y="2381250"/>
            <a:ext cx="2895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AD2B26"/>
                </a:solidFill>
                <a:latin typeface="Microsoft YaHei"/>
                <a:ea typeface="Microsoft YaHei"/>
                <a:cs typeface="Microsoft YaHei"/>
              </a:rPr>
              <a:t>扩展系统能力</a:t>
            </a:r>
          </a:p>
        </p:txBody>
      </p:sp>
      <p:sp>
        <p:nvSpPr>
          <p:cNvPr id="21" name="Oval 20"/>
          <p:cNvSpPr/>
          <p:nvPr/>
        </p:nvSpPr>
        <p:spPr>
          <a:xfrm>
            <a:off x="4495800" y="2800350"/>
            <a:ext cx="57150" cy="57150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6300" y="2724150"/>
            <a:ext cx="2705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引入 Redis 缓存统计结果与登录态续期</a:t>
            </a:r>
          </a:p>
        </p:txBody>
      </p:sp>
      <p:sp>
        <p:nvSpPr>
          <p:cNvPr id="23" name="Oval 22"/>
          <p:cNvSpPr/>
          <p:nvPr/>
        </p:nvSpPr>
        <p:spPr>
          <a:xfrm>
            <a:off x="4495800" y="3295650"/>
            <a:ext cx="57150" cy="57150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6300" y="3219450"/>
            <a:ext cx="2705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头像存储迁移至对象存储（OSS / MinIO）</a:t>
            </a:r>
          </a:p>
        </p:txBody>
      </p:sp>
      <p:sp>
        <p:nvSpPr>
          <p:cNvPr id="25" name="Oval 24"/>
          <p:cNvSpPr/>
          <p:nvPr/>
        </p:nvSpPr>
        <p:spPr>
          <a:xfrm>
            <a:off x="4495800" y="3790950"/>
            <a:ext cx="57150" cy="57150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6300" y="3714750"/>
            <a:ext cx="2705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补齐 RBAC 角色权限，区分管理端与学员端</a:t>
            </a:r>
          </a:p>
        </p:txBody>
      </p:sp>
      <p:sp>
        <p:nvSpPr>
          <p:cNvPr id="27" name="Oval 26"/>
          <p:cNvSpPr/>
          <p:nvPr/>
        </p:nvSpPr>
        <p:spPr>
          <a:xfrm>
            <a:off x="4495800" y="4286250"/>
            <a:ext cx="57150" cy="57150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6300" y="4210050"/>
            <a:ext cx="2705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文件上传增加类型与体积校验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4800" y="1181100"/>
            <a:ext cx="3352800" cy="3771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24800" y="1181100"/>
            <a:ext cx="3352800" cy="28575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3400" y="1371600"/>
            <a:ext cx="289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阶段三 · 架构演进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3400" y="1657350"/>
            <a:ext cx="2895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AD2B26"/>
                </a:solidFill>
                <a:latin typeface="Microsoft YaHei"/>
                <a:ea typeface="Microsoft YaHei"/>
                <a:cs typeface="Microsoft YaHei"/>
              </a:rPr>
              <a:t>提升规模化</a:t>
            </a:r>
          </a:p>
        </p:txBody>
      </p:sp>
      <p:sp>
        <p:nvSpPr>
          <p:cNvPr id="33" name="Oval 32"/>
          <p:cNvSpPr/>
          <p:nvPr/>
        </p:nvSpPr>
        <p:spPr>
          <a:xfrm>
            <a:off x="8153400" y="2076450"/>
            <a:ext cx="57150" cy="57150"/>
          </a:xfrm>
          <a:prstGeom prst="ellipse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3900" y="2000250"/>
            <a:ext cx="2705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Docker 容器化 + CI/CD 自动构建部署</a:t>
            </a:r>
          </a:p>
        </p:txBody>
      </p:sp>
      <p:sp>
        <p:nvSpPr>
          <p:cNvPr id="35" name="Oval 34"/>
          <p:cNvSpPr/>
          <p:nvPr/>
        </p:nvSpPr>
        <p:spPr>
          <a:xfrm>
            <a:off x="8153400" y="2571750"/>
            <a:ext cx="57150" cy="57150"/>
          </a:xfrm>
          <a:prstGeom prst="ellipse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43900" y="2495550"/>
            <a:ext cx="2705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前端升级 Vue3 + TypeScript 抽离公共组件库</a:t>
            </a:r>
          </a:p>
        </p:txBody>
      </p:sp>
      <p:sp>
        <p:nvSpPr>
          <p:cNvPr id="37" name="Oval 36"/>
          <p:cNvSpPr/>
          <p:nvPr/>
        </p:nvSpPr>
        <p:spPr>
          <a:xfrm>
            <a:off x="8153400" y="3067050"/>
            <a:ext cx="57150" cy="57150"/>
          </a:xfrm>
          <a:prstGeom prst="ellipse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3900" y="2990850"/>
            <a:ext cx="2705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接入监控告警与慢查询分析</a:t>
            </a:r>
          </a:p>
        </p:txBody>
      </p:sp>
      <p:sp>
        <p:nvSpPr>
          <p:cNvPr id="39" name="Oval 38"/>
          <p:cNvSpPr/>
          <p:nvPr/>
        </p:nvSpPr>
        <p:spPr>
          <a:xfrm>
            <a:off x="8153400" y="3562350"/>
            <a:ext cx="57150" cy="57150"/>
          </a:xfrm>
          <a:prstGeom prst="ellipse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3900" y="3486150"/>
            <a:ext cx="2705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支撑多实例部署与配置中心治理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5143500"/>
            <a:ext cx="10972800" cy="742950"/>
          </a:xfrm>
          <a:prstGeom prst="rect">
            <a:avLst/>
          </a:prstGeom>
          <a:solidFill>
            <a:srgbClr val="FC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600" y="5143500"/>
            <a:ext cx="28575" cy="74295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9150" y="5295900"/>
            <a:ext cx="105537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改造顺序严格遵循</a:t>
            </a:r>
            <a:r>
              <a:rPr sz="15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工程加固 → 能力扩展 → 架构演进</a:t>
            </a:r>
            <a:r>
              <a:rPr sz="150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，与项目当前规模匹配：在还没有并发压力的阶段引入分布式组件，只会增加维护成本。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7630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E7372"/>
                </a:solidFill>
                <a:latin typeface="Microsoft YaHei"/>
                <a:ea typeface="Microsoft YaHei"/>
                <a:cs typeface="Microsoft YaHei"/>
              </a:rPr>
              <a:t>Tlias 智能学习辅助系统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52700"/>
            <a:ext cx="9525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4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从一份接口文档，</a:t>
            </a:r>
          </a:p>
          <a:p>
            <a:pPr algn="l">
              <a:lnSpc>
                <a:spcPct val="145000"/>
              </a:lnSpc>
            </a:pPr>
            <a:r>
              <a:rPr sz="3400" b="1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到一套能跑起来、能被接手、能继续长大的系统。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000500"/>
            <a:ext cx="533400" cy="28575"/>
          </a:xfrm>
          <a:prstGeom prst="rect">
            <a:avLst/>
          </a:prstGeom>
          <a:solidFill>
            <a:srgbClr val="A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363C3B"/>
                </a:solidFill>
                <a:latin typeface="Microsoft YaHei"/>
                <a:ea typeface="Microsoft YaHei"/>
                <a:cs typeface="Microsoft YaHei"/>
              </a:rPr>
              <a:t>李胤贤 · 山东政法学院 · 信息管理与信息系统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291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A8ADAC"/>
                </a:solidFill>
                <a:latin typeface="Microsoft YaHei"/>
                <a:ea typeface="Microsoft YaHei"/>
                <a:cs typeface="Microsoft YaHei"/>
              </a:rPr>
              <a:t>2026.10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531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8ADAC"/>
                </a:solidFill>
                <a:latin typeface="Consolas"/>
                <a:ea typeface="Consolas"/>
                <a:cs typeface="Consolas"/>
              </a:rPr>
              <a:t>代码仓库：github.com/liynxian1006/tlias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